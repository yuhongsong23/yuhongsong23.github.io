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93df3fc34d4511" /><Relationship Type="http://schemas.openxmlformats.org/officeDocument/2006/relationships/extended-properties" Target="/docProps/app.xml" Id="R1979199ccc994442" /><Relationship Type="http://schemas.openxmlformats.org/officeDocument/2006/relationships/officeDocument" Target="/ppt/presentation.xml" Id="R4c0c7ef86bdc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4c3dab70c4ae4"/>
  </p:sldMasterIdLst>
  <p:notesMasterIdLst>
    <p:notesMasterId xmlns:r="http://schemas.openxmlformats.org/officeDocument/2006/relationships" r:id="R2cff6629aa444323"/>
  </p:notesMasterIdLst>
  <p:sldIdLst>
    <p:sldId xmlns:r="http://schemas.openxmlformats.org/officeDocument/2006/relationships" id="256" r:id="R707ac245ab9b4d3b"/>
    <p:sldId xmlns:r="http://schemas.openxmlformats.org/officeDocument/2006/relationships" id="257" r:id="R3f154a6d07ab43d9"/>
    <p:sldId xmlns:r="http://schemas.openxmlformats.org/officeDocument/2006/relationships" id="258" r:id="R2532ef0131b64c4f"/>
    <p:sldId xmlns:r="http://schemas.openxmlformats.org/officeDocument/2006/relationships" id="259" r:id="Rffcfaaab67ba47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5b8e928f8434e" /><Relationship Type="http://schemas.openxmlformats.org/officeDocument/2006/relationships/slideMaster" Target="/ppt/slideMasters/slideMaster1.xml" Id="Rb514c3dab70c4ae4" /><Relationship Type="http://schemas.openxmlformats.org/officeDocument/2006/relationships/notesMaster" Target="/ppt/notesMasters/notesMaster1.xml" Id="R2cff6629aa444323" /><Relationship Type="http://schemas.openxmlformats.org/officeDocument/2006/relationships/presProps" Target="/ppt/presProps.xml" Id="Rd335013bf17649e7" /><Relationship Type="http://schemas.openxmlformats.org/officeDocument/2006/relationships/tableStyles" Target="/ppt/tableStyles.xml" Id="R2b0e9c294eb84339" /><Relationship Type="http://schemas.openxmlformats.org/officeDocument/2006/relationships/slide" Target="/ppt/slides/slide1.xml" Id="R707ac245ab9b4d3b" /><Relationship Type="http://schemas.openxmlformats.org/officeDocument/2006/relationships/slide" Target="/ppt/slides/slide2.xml" Id="R3f154a6d07ab43d9" /><Relationship Type="http://schemas.openxmlformats.org/officeDocument/2006/relationships/slide" Target="/ppt/slides/slide3.xml" Id="R2532ef0131b64c4f" /><Relationship Type="http://schemas.openxmlformats.org/officeDocument/2006/relationships/slide" Target="/ppt/slides/slide4.xml" Id="Rffcfaaab67ba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3bf6dd7c8b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266c3957b84fc8" /><Relationship Type="http://schemas.openxmlformats.org/officeDocument/2006/relationships/notesMaster" Target="/ppt/notesMasters/notesMaster1.xml" Id="Rcc7c6e879d2443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22537ba8a4f9f" /><Relationship Type="http://schemas.openxmlformats.org/officeDocument/2006/relationships/notesMaster" Target="/ppt/notesMasters/notesMaster1.xml" Id="R295e260e6b1840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21b3b9c5043fd" /><Relationship Type="http://schemas.openxmlformats.org/officeDocument/2006/relationships/notesMaster" Target="/ppt/notesMasters/notesMaster1.xml" Id="R34e5b2d87583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da98d2a9b247d0" /><Relationship Type="http://schemas.openxmlformats.org/officeDocument/2006/relationships/notesMaster" Target="/ppt/notesMasters/notesMaster1.xml" Id="R91cfa7e11a4d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a7dc55915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cd1b7b14c94092" /><Relationship Type="http://schemas.openxmlformats.org/officeDocument/2006/relationships/slideLayout" Target="/ppt/slideLayouts/slideLayout1.xml" Id="Rb1d33e57600646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d33e57600646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8adec9e04603" /><Relationship Type="http://schemas.openxmlformats.org/officeDocument/2006/relationships/notesSlide" Target="/ppt/notesSlides/notesSlide1.xml" Id="R0e2be0549e0d48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4aa7111934ff3" /><Relationship Type="http://schemas.openxmlformats.org/officeDocument/2006/relationships/image" Target="/ppt/media/image.png" Id="Rf96820acc00a449e" /><Relationship Type="http://schemas.openxmlformats.org/officeDocument/2006/relationships/notesSlide" Target="/ppt/notesSlides/notesSlide2.xml" Id="Rdb647ca88c0a45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468c0f89443d0" /><Relationship Type="http://schemas.openxmlformats.org/officeDocument/2006/relationships/image" Target="/ppt/media/image2.png" Id="R675ad75a101341b2" /><Relationship Type="http://schemas.openxmlformats.org/officeDocument/2006/relationships/notesSlide" Target="/ppt/notesSlides/notesSlide3.xml" Id="R9aeb608c94ca45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3a636e0204f4b" /><Relationship Type="http://schemas.openxmlformats.org/officeDocument/2006/relationships/notesSlide" Target="/ppt/notesSlides/notesSlide4.xml" Id="Rd7d5d42fb6094d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019A821-9120-4EAF-BF9C-3535031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实验结果 1：端到端 AutoQEC 是否同时保持能量和降低复杂度？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F88FC9A3-8305-4DBD-8E01-0D8F4182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78B9B27-0705-4378-AB1B-1B5A69E5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这组实验验证完整 pipeline：先用 AutoQEC-I 得到 FT gateset，再用 AutoQEC-II 搜索 VQE circuit，最后和传统分解方法对比。</a:t>
            </a:r>
          </a:p>
        </p:txBody>
      </p:sp>
      <p:sp>
        <p:nvSpPr>
          <p:cNvPr id="4" name="setting-label">
            <a:extLst xmlns:a="http://schemas.openxmlformats.org/drawingml/2006/main">
              <a:ext uri="{FF2B5EF4-FFF2-40B4-BE49-F238E27FC236}">
                <a16:creationId xmlns:a16="http://schemas.microsoft.com/office/drawing/2014/main" id="{E5E7E306-4D1B-4CDB-A039-DFC08CDD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实验设置</a:t>
            </a:r>
          </a:p>
        </p:txBody>
      </p:sp>
      <p:sp>
        <p:nvSpPr>
          <p:cNvPr id="5" name="setting">
            <a:extLst xmlns:a="http://schemas.openxmlformats.org/drawingml/2006/main">
              <a:ext uri="{FF2B5EF4-FFF2-40B4-BE49-F238E27FC236}">
                <a16:creationId xmlns:a16="http://schemas.microsoft.com/office/drawing/2014/main" id="{7140F675-3244-4204-BDE5-FA7B2624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8">
                <a:solidFill>
                  <a:srgbClr val="111111"/>
                </a:solidFill>
              </a:defRPr>
            </a:pPr>
            <a:r>
              <a:rPr sz="1538">
                <a:solidFill>
                  <a:srgbClr val="111111"/>
                </a:solidFill>
              </a:rPr>
              <a:t>实验覆盖两个 QEC codes 和三个 VQE 分子任务 H2、LiH、CO2；指标包括 VQE energy、门数 #Gate/#DG 和逻辑层 space-time overhead。</a:t>
            </a:r>
          </a:p>
        </p:txBody>
      </p:sp>
      <p:sp>
        <p:nvSpPr>
          <p:cNvPr id="6" name="divider-610">
            <a:extLst xmlns:a="http://schemas.openxmlformats.org/drawingml/2006/main">
              <a:ext uri="{FF2B5EF4-FFF2-40B4-BE49-F238E27FC236}">
                <a16:creationId xmlns:a16="http://schemas.microsoft.com/office/drawing/2014/main" id="{60D8771A-822F-4D8D-94C2-6743EB9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F6966050-2A2B-4CE6-A161-112FEE3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实验结论</a:t>
            </a:r>
          </a:p>
        </p:txBody>
      </p:sp>
      <p:sp>
        <p:nvSpPr>
          <p:cNvPr id="8" name="conclusion">
            <a:extLst xmlns:a="http://schemas.openxmlformats.org/drawingml/2006/main">
              <a:ext uri="{FF2B5EF4-FFF2-40B4-BE49-F238E27FC236}">
                <a16:creationId xmlns:a16="http://schemas.microsoft.com/office/drawing/2014/main" id="{8ABEB8B3-8B9F-4555-A446-7F4CF4D6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AutoQEC 的 energy 接近 reference，同时把门数和 STO 从几十万级降到几十级。核心收益来自：不再把 VQE 线路硬分解，而是直接搜索 FT-friendly circuit。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76300" y="2686050"/>
          <a:ext xmlns:a="http://schemas.openxmlformats.org/drawingml/2006/main" cx="104394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381125"/>
                <a:gridCol w="2714625"/>
                <a:gridCol w="2476500"/>
                <a:gridCol w="2152650"/>
              </a:tblGrid>
              <a:tr h="476250"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Energy H2 / LiH / CO2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#Gate 或 #DG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STO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EfficientSU2 + 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-1.854 / -9.690 / -1.380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390397 / 781728 / 784050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414810 / 992472 / 1031932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Gridsynth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分解优化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-1.854 / -9.690 / -1.380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4242 / 8507 / 8509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4306 / 8768 / 8692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AutoQEC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[[7,1,3]]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-1.837 / -9.853 / -1.452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4 / 16 /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8 / 32 / 24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35" b="1">
                          <a:solidFill>
                            <a:srgbClr val="111111"/>
                          </a:solidFill>
                        </a:rPr>
                        <a:t>AutoQEC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[[5,1,3]]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-1.837 / -9.853 / -1.452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6 / 26 / 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35" b="0">
                          <a:solidFill>
                            <a:srgbClr val="111111"/>
                          </a:solidFill>
                        </a:rPr>
                        <a:t>12 / 48 / 24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8729F734-7DA5-46F3-9113-0D991353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表：端到端 VQE 能量、门数和逻辑层 STO 对比。Energy 越低越好，#Gate/#DG 和 STO 越低越好。</a:t>
            </a:r>
          </a:p>
        </p:txBody>
      </p:sp>
    </p:spTree>
    <p:extLst>
      <p:ext uri="{BB962C8B-B14F-4D97-AF65-F5344CB8AC3E}">
        <p14:creationId xmlns:p14="http://schemas.microsoft.com/office/powerpoint/2010/main" val="158291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F9E478C8-4345-4D50-BEB0-15D374B7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实验结果 2：AutoQEC-I 是否比 NF/HN 更稳定地训练 FT gates？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6DFCF23B-71AA-4B3C-9456-2B0D13BB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E67E9DA-8A03-43F5-81D8-846A203C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这组实验单独验证 FT gate synthesis：比较 noise-free training、hardware-specific noisy training 和 error-bounded training。</a:t>
            </a:r>
          </a:p>
        </p:txBody>
      </p:sp>
      <p:sp>
        <p:nvSpPr>
          <p:cNvPr id="4" name="setting-label">
            <a:extLst xmlns:a="http://schemas.openxmlformats.org/drawingml/2006/main">
              <a:ext uri="{FF2B5EF4-FFF2-40B4-BE49-F238E27FC236}">
                <a16:creationId xmlns:a16="http://schemas.microsoft.com/office/drawing/2014/main" id="{D32A16A0-D56F-453B-B31D-F35FE386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实验设置</a:t>
            </a:r>
          </a:p>
        </p:txBody>
      </p:sp>
      <p:sp>
        <p:nvSpPr>
          <p:cNvPr id="5" name="setting">
            <a:extLst xmlns:a="http://schemas.openxmlformats.org/drawingml/2006/main">
              <a:ext uri="{FF2B5EF4-FFF2-40B4-BE49-F238E27FC236}">
                <a16:creationId xmlns:a16="http://schemas.microsoft.com/office/drawing/2014/main" id="{587A8DEF-2F08-4E79-BBBA-3FE8EB8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111"/>
                </a:solidFill>
              </a:defRPr>
            </a:pPr>
            <a:r>
              <a:rPr sz="1463">
                <a:solidFill>
                  <a:srgbClr val="111111"/>
                </a:solidFill>
              </a:rPr>
              <a:t>在 [[7,1,3]] code 上评估 H/S gates，在 [[5,1,3]] code 上评估 HS/HS† gates；不同真实 backend noise profile 下用 AFE 衡量 FT gate 准确性。</a:t>
            </a:r>
          </a:p>
        </p:txBody>
      </p:sp>
      <p:sp>
        <p:nvSpPr>
          <p:cNvPr id="6" name="divider-610">
            <a:extLst xmlns:a="http://schemas.openxmlformats.org/drawingml/2006/main">
              <a:ext uri="{FF2B5EF4-FFF2-40B4-BE49-F238E27FC236}">
                <a16:creationId xmlns:a16="http://schemas.microsoft.com/office/drawing/2014/main" id="{B7018E8A-46C9-44C5-B856-13382CDF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65B9D23A-3412-4675-922B-2DD68FB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实验结论</a:t>
            </a:r>
          </a:p>
        </p:txBody>
      </p:sp>
      <p:sp>
        <p:nvSpPr>
          <p:cNvPr id="8" name="conclusion">
            <a:extLst xmlns:a="http://schemas.openxmlformats.org/drawingml/2006/main">
              <a:ext uri="{FF2B5EF4-FFF2-40B4-BE49-F238E27FC236}">
                <a16:creationId xmlns:a16="http://schemas.microsoft.com/office/drawing/2014/main" id="{ECF5316A-8CB5-471C-B738-972A1A61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NF 会留下 virtual error；HN 只在特定噪声强度下有效，低噪声和高噪声都会失稳。EB 通过 bounded error injection 保持更稳定的 FT gate 训练。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820acc00a449e"/>
          <a:stretch xmlns:a="http://schemas.openxmlformats.org/drawingml/2006/main"/>
        </p:blipFill>
        <p:spPr>
          <a:xfrm xmlns:a="http://schemas.openxmlformats.org/drawingml/2006/main">
            <a:off x="2688431" y="2590800"/>
            <a:ext cx="6815138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fig9-caption">
            <a:extLst xmlns:a="http://schemas.openxmlformats.org/drawingml/2006/main">
              <a:ext uri="{FF2B5EF4-FFF2-40B4-BE49-F238E27FC236}">
                <a16:creationId xmlns:a16="http://schemas.microsoft.com/office/drawing/2014/main" id="{A1529E3C-D6AA-4408-A20A-C305EBB1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333333"/>
                </a:solidFill>
              </a:defRPr>
            </a:pPr>
            <a:r>
              <a:rPr sz="1088">
                <a:solidFill>
                  <a:srgbClr val="333333"/>
                </a:solidFill>
              </a:rPr>
              <a:t>图：AutoQEC-I 与 NF/HN 在不同 QEC code、不同 gate、不同噪声条件下的 AFE 对比。</a:t>
            </a:r>
          </a:p>
        </p:txBody>
      </p:sp>
    </p:spTree>
    <p:extLst>
      <p:ext uri="{BB962C8B-B14F-4D97-AF65-F5344CB8AC3E}">
        <p14:creationId xmlns:p14="http://schemas.microsoft.com/office/powerpoint/2010/main" val="1173580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72562014-1EEC-4549-BAD5-00A0A4D1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实验结果 3：AutoQEC-II 是否比随机搜索更会找 VQE circuit？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E28593DD-862B-44B0-89F1-5F7E22C6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B4CD0312-B9BA-4B97-BC4E-DCBCE72B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这组实验验证 circuit architecture search：AutoQEC-II 用 evolutionary search，在 AutoQEC-I 给出的 FT gateset 中找低门数、低能量的 VQE circuit。</a:t>
            </a:r>
          </a:p>
        </p:txBody>
      </p:sp>
      <p:sp>
        <p:nvSpPr>
          <p:cNvPr id="4" name="setting-label">
            <a:extLst xmlns:a="http://schemas.openxmlformats.org/drawingml/2006/main">
              <a:ext uri="{FF2B5EF4-FFF2-40B4-BE49-F238E27FC236}">
                <a16:creationId xmlns:a16="http://schemas.microsoft.com/office/drawing/2014/main" id="{B7EEB4FE-D029-4EE2-8DB4-920AC24C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实验设置</a:t>
            </a:r>
          </a:p>
        </p:txBody>
      </p:sp>
      <p:sp>
        <p:nvSpPr>
          <p:cNvPr id="5" name="setting">
            <a:extLst xmlns:a="http://schemas.openxmlformats.org/drawingml/2006/main">
              <a:ext uri="{FF2B5EF4-FFF2-40B4-BE49-F238E27FC236}">
                <a16:creationId xmlns:a16="http://schemas.microsoft.com/office/drawing/2014/main" id="{BAF26089-19CE-4E08-933F-A269467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63">
                <a:solidFill>
                  <a:srgbClr val="111111"/>
                </a:solidFill>
              </a:defRPr>
            </a:pPr>
            <a:r>
              <a:rPr sz="1463">
                <a:solidFill>
                  <a:srgbClr val="111111"/>
                </a:solidFill>
              </a:rPr>
              <a:t>对两个 QEC codes 和三个分子任务进行搜索；AutoQEC-II 运行 150 episodes、每代 100 genes，并与 15k random search 和 30k random search 比较。</a:t>
            </a:r>
          </a:p>
        </p:txBody>
      </p:sp>
      <p:sp>
        <p:nvSpPr>
          <p:cNvPr id="6" name="divider-610">
            <a:extLst xmlns:a="http://schemas.openxmlformats.org/drawingml/2006/main">
              <a:ext uri="{FF2B5EF4-FFF2-40B4-BE49-F238E27FC236}">
                <a16:creationId xmlns:a16="http://schemas.microsoft.com/office/drawing/2014/main" id="{0A891E7D-391F-4FEB-8CBA-E4347BF2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1B70EC6B-B13C-4C83-9DA8-3A39D48D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实验结论</a:t>
            </a:r>
          </a:p>
        </p:txBody>
      </p:sp>
      <p:sp>
        <p:nvSpPr>
          <p:cNvPr id="8" name="conclusion">
            <a:extLst xmlns:a="http://schemas.openxmlformats.org/drawingml/2006/main">
              <a:ext uri="{FF2B5EF4-FFF2-40B4-BE49-F238E27FC236}">
                <a16:creationId xmlns:a16="http://schemas.microsoft.com/office/drawing/2014/main" id="{3D8E295F-25DA-42DF-B93C-3CA6B514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AutoQEC-II 找到的解通常同时靠近 reference energy 且 gate count 更低。随机搜索即使扩大到 30k samples，也很难稳定超过 evolutionary search。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ad75a101341b2"/>
          <a:stretch xmlns:a="http://schemas.openxmlformats.org/drawingml/2006/main"/>
        </p:blipFill>
        <p:spPr>
          <a:xfrm xmlns:a="http://schemas.openxmlformats.org/drawingml/2006/main">
            <a:off x="3260630" y="2571750"/>
            <a:ext cx="5670741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fig10-caption">
            <a:extLst xmlns:a="http://schemas.openxmlformats.org/drawingml/2006/main">
              <a:ext uri="{FF2B5EF4-FFF2-40B4-BE49-F238E27FC236}">
                <a16:creationId xmlns:a16="http://schemas.microsoft.com/office/drawing/2014/main" id="{3FBC37A3-0F76-4DF5-BBD6-05C66A80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333333"/>
                </a:solidFill>
              </a:defRPr>
            </a:pPr>
            <a:r>
              <a:rPr sz="1088">
                <a:solidFill>
                  <a:srgbClr val="333333"/>
                </a:solidFill>
              </a:rPr>
              <a:t>图：蓝点为随机搜索空间，绿色星号为 AutoQEC-II 结果；横轴门数越少越好，纵轴 energy 越低越好。</a:t>
            </a:r>
          </a:p>
        </p:txBody>
      </p:sp>
    </p:spTree>
    <p:extLst>
      <p:ext uri="{BB962C8B-B14F-4D97-AF65-F5344CB8AC3E}">
        <p14:creationId xmlns:p14="http://schemas.microsoft.com/office/powerpoint/2010/main" val="1344460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69633F01-9598-4AA4-B2F4-F8F76CC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实验结果 4：真正编码成 FT circuit 后，性能能否保持？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CBF45193-7BCA-4037-8115-65A6D3B1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0AC42B1-CF6D-4524-B12B-D919E85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2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3333"/>
                </a:solidFill>
              </a:defRPr>
            </a:pPr>
            <a:r>
              <a:rPr sz="1500">
                <a:solidFill>
                  <a:srgbClr val="333333"/>
                </a:solidFill>
              </a:rPr>
              <a:t>最后一组实验把搜索得到的 H2 logical VQE circuit 编码成 QEC-based FT circuit，用来验证 AutoQEC 的端到端实现可行性。</a:t>
            </a:r>
          </a:p>
        </p:txBody>
      </p:sp>
      <p:sp>
        <p:nvSpPr>
          <p:cNvPr id="4" name="setting-label">
            <a:extLst xmlns:a="http://schemas.openxmlformats.org/drawingml/2006/main">
              <a:ext uri="{FF2B5EF4-FFF2-40B4-BE49-F238E27FC236}">
                <a16:creationId xmlns:a16="http://schemas.microsoft.com/office/drawing/2014/main" id="{B8C37D0E-FD5E-44BC-9296-91D800C2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实验设置</a:t>
            </a:r>
          </a:p>
        </p:txBody>
      </p:sp>
      <p:sp>
        <p:nvSpPr>
          <p:cNvPr id="5" name="setting">
            <a:extLst xmlns:a="http://schemas.openxmlformats.org/drawingml/2006/main">
              <a:ext uri="{FF2B5EF4-FFF2-40B4-BE49-F238E27FC236}">
                <a16:creationId xmlns:a16="http://schemas.microsoft.com/office/drawing/2014/main" id="{8715A1C2-FFFC-46D5-AFBD-D6DA33A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8">
                <a:solidFill>
                  <a:srgbClr val="111111"/>
                </a:solidFill>
              </a:defRPr>
            </a:pPr>
            <a:r>
              <a:rPr sz="1538">
                <a:solidFill>
                  <a:srgbClr val="111111"/>
                </a:solidFill>
              </a:rPr>
              <a:t>由于 encoded FT circuit 仿真成本很高，实验只在 H2 上实现；比较 logVQE 和 AutoQEC-Implem. 的 qubits、depth、STO、#Gates 和 energy。</a:t>
            </a:r>
          </a:p>
        </p:txBody>
      </p:sp>
      <p:sp>
        <p:nvSpPr>
          <p:cNvPr id="6" name="divider-610">
            <a:extLst xmlns:a="http://schemas.openxmlformats.org/drawingml/2006/main">
              <a:ext uri="{FF2B5EF4-FFF2-40B4-BE49-F238E27FC236}">
                <a16:creationId xmlns:a16="http://schemas.microsoft.com/office/drawing/2014/main" id="{F801E35D-C5F3-4987-8A7D-1B5AD39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2A57CE4F-1D6E-4890-8148-BA09F01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实验结论</a:t>
            </a:r>
          </a:p>
        </p:txBody>
      </p:sp>
      <p:sp>
        <p:nvSpPr>
          <p:cNvPr id="8" name="conclusion">
            <a:extLst xmlns:a="http://schemas.openxmlformats.org/drawingml/2006/main">
              <a:ext uri="{FF2B5EF4-FFF2-40B4-BE49-F238E27FC236}">
                <a16:creationId xmlns:a16="http://schemas.microsoft.com/office/drawing/2014/main" id="{61C7C8ED-D778-4DB0-88E5-7FC613E6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QEC 编码带来明显资源开销，但 AutoQEC-Implem. 与 logVQE 得到相同 energy -1.837。说明在 code 能力范围内，FT 实现可以保持应用性能。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0" y="2571750"/>
          <a:ext xmlns:a="http://schemas.openxmlformats.org/drawingml/2006/main" cx="74295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809750"/>
                <a:gridCol w="1809750"/>
                <a:gridCol w="1809750"/>
              </a:tblGrid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[[7,1,3]]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[[5,1,3]]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logVQE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#Qubits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2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logVQE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Depth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logVQE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STO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12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logVQE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#Gates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6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logVQE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Perf.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-1.837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-1.837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AutoQEC-Implem.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#Qubits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18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AutoQEC-Implem.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Depth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148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175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AutoQEC-Implem.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STO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3848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3150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AutoQEC-Implem.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#Gates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330</a:t>
                      </a:r>
                    </a:p>
                  </a:txBody>
                  <a:tcPr marL="91440" marR="91440" marT="45720" marB="45720"/>
                </a:tc>
              </a:tr>
              <a:tr h="26150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AutoQEC-Implem.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Perf.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-1.837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</a:rPr>
                        <a:t>-1.837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C56245A6-8E8C-4075-8EE9-9EC89A9C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表：H2 的 logical VQE 与 QEC-encoded AutoQEC implementation 对比。</a:t>
            </a:r>
          </a:p>
        </p:txBody>
      </p:sp>
    </p:spTree>
    <p:extLst>
      <p:ext uri="{BB962C8B-B14F-4D97-AF65-F5344CB8AC3E}">
        <p14:creationId xmlns:p14="http://schemas.microsoft.com/office/powerpoint/2010/main" val="1400081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2026-08-08T16:32:38.5270000Z</dcterms:created>
  <dcterms:modified xsi:type="dcterms:W3CDTF">2026-08-08T16:32:38.5270000Z</dcterms:modified>
</coreProperties>
</file>
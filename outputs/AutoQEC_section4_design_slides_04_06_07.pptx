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ec9d3d59e046cf" /><Relationship Type="http://schemas.openxmlformats.org/officeDocument/2006/relationships/extended-properties" Target="/docProps/app.xml" Id="R12549c3d376e4c63" /><Relationship Type="http://schemas.openxmlformats.org/officeDocument/2006/relationships/officeDocument" Target="/ppt/presentation.xml" Id="R4b45e5e5eac4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456fe2d334d23"/>
  </p:sldMasterIdLst>
  <p:notesMasterIdLst>
    <p:notesMasterId xmlns:r="http://schemas.openxmlformats.org/officeDocument/2006/relationships" r:id="Ra89dadfc97824182"/>
  </p:notesMasterIdLst>
  <p:sldIdLst>
    <p:sldId xmlns:r="http://schemas.openxmlformats.org/officeDocument/2006/relationships" id="256" r:id="R7dc6fd82bcc241b8"/>
    <p:sldId xmlns:r="http://schemas.openxmlformats.org/officeDocument/2006/relationships" id="257" r:id="R57e40f3ef2924ea5"/>
    <p:sldId xmlns:r="http://schemas.openxmlformats.org/officeDocument/2006/relationships" id="258" r:id="Ra31e4f2f523041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1c662cb004580" /><Relationship Type="http://schemas.openxmlformats.org/officeDocument/2006/relationships/slideMaster" Target="/ppt/slideMasters/slideMaster1.xml" Id="Re2c456fe2d334d23" /><Relationship Type="http://schemas.openxmlformats.org/officeDocument/2006/relationships/notesMaster" Target="/ppt/notesMasters/notesMaster1.xml" Id="Ra89dadfc97824182" /><Relationship Type="http://schemas.openxmlformats.org/officeDocument/2006/relationships/presProps" Target="/ppt/presProps.xml" Id="R417409a388864eb3" /><Relationship Type="http://schemas.openxmlformats.org/officeDocument/2006/relationships/tableStyles" Target="/ppt/tableStyles.xml" Id="Rd2a2951a7058402b" /><Relationship Type="http://schemas.openxmlformats.org/officeDocument/2006/relationships/slide" Target="/ppt/slides/slide1.xml" Id="R7dc6fd82bcc241b8" /><Relationship Type="http://schemas.openxmlformats.org/officeDocument/2006/relationships/slide" Target="/ppt/slides/slide2.xml" Id="R57e40f3ef2924ea5" /><Relationship Type="http://schemas.openxmlformats.org/officeDocument/2006/relationships/slide" Target="/ppt/slides/slide3.xml" Id="Ra31e4f2f5230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eb471d66841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5258d6b0534e0c" /><Relationship Type="http://schemas.openxmlformats.org/officeDocument/2006/relationships/notesMaster" Target="/ppt/notesMasters/notesMaster1.xml" Id="R8ea204e1ce5444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bfad16124d4c63" /><Relationship Type="http://schemas.openxmlformats.org/officeDocument/2006/relationships/notesMaster" Target="/ppt/notesMasters/notesMaster1.xml" Id="Rdf7be44040ff4f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d60d7af004f52" /><Relationship Type="http://schemas.openxmlformats.org/officeDocument/2006/relationships/notesMaster" Target="/ppt/notesMasters/notesMaster1.xml" Id="Rcce70ae8be504e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bbeb4aa2d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d31ff05fe3482d" /><Relationship Type="http://schemas.openxmlformats.org/officeDocument/2006/relationships/slideLayout" Target="/ppt/slideLayouts/slideLayout1.xml" Id="Rf55cf267e6f4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5cf267e6f4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5367d554a4086" /><Relationship Type="http://schemas.openxmlformats.org/officeDocument/2006/relationships/image" Target="/ppt/media/image.png" Id="R95cdea193d7f4d73" /><Relationship Type="http://schemas.openxmlformats.org/officeDocument/2006/relationships/notesSlide" Target="/ppt/notesSlides/notesSlide1.xml" Id="R62d828bda7a9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4be09d7c04cdb" /><Relationship Type="http://schemas.openxmlformats.org/officeDocument/2006/relationships/image" Target="/ppt/media/image2.png" Id="Rd6c77396d18e4417" /><Relationship Type="http://schemas.openxmlformats.org/officeDocument/2006/relationships/notesSlide" Target="/ppt/notesSlides/notesSlide2.xml" Id="R13a24347390d49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64e714ffd4e9e" /><Relationship Type="http://schemas.openxmlformats.org/officeDocument/2006/relationships/image" Target="/ppt/media/image3.png" Id="R8dcce2d1ff334d7a" /><Relationship Type="http://schemas.openxmlformats.org/officeDocument/2006/relationships/notesSlide" Target="/ppt/notesSlides/notesSlide3.xml" Id="Ra822e4a146b844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8BA89C1-887D-463F-AC1E-F8CBEFA2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④ noise-aware training 的有效噪声范围能否统一？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7215093F-61EB-4B32-B6D0-CDE25FD5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transition">
            <a:extLst xmlns:a="http://schemas.openxmlformats.org/drawingml/2006/main">
              <a:ext uri="{FF2B5EF4-FFF2-40B4-BE49-F238E27FC236}">
                <a16:creationId xmlns:a16="http://schemas.microsoft.com/office/drawing/2014/main" id="{483FD3FD-F2BA-4F67-BAB2-6A87898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333333"/>
                </a:solidFill>
              </a:defRPr>
            </a:pPr>
            <a:r>
              <a:rPr sz="1463">
                <a:solidFill>
                  <a:srgbClr val="333333"/>
                </a:solidFill>
              </a:rPr>
              <a:t>上一页发现：把噪声放进训练有希望，但只在较高噪声水平 16-17 下表现好。因此下一步要问，这个噪声水平能不能稳定迁移到其他 gate。</a:t>
            </a:r>
          </a:p>
        </p:txBody>
      </p:sp>
      <p:sp>
        <p:nvSpPr>
          <p:cNvPr id="4" name="rq-label">
            <a:extLst xmlns:a="http://schemas.openxmlformats.org/drawingml/2006/main">
              <a:ext uri="{FF2B5EF4-FFF2-40B4-BE49-F238E27FC236}">
                <a16:creationId xmlns:a16="http://schemas.microsoft.com/office/drawing/2014/main" id="{9CA710BE-CD81-4352-B064-002D451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产生的 Research Question</a:t>
            </a:r>
          </a:p>
        </p:txBody>
      </p:sp>
      <p:sp>
        <p:nvSpPr>
          <p:cNvPr id="5" name="rq">
            <a:extLst xmlns:a="http://schemas.openxmlformats.org/drawingml/2006/main">
              <a:ext uri="{FF2B5EF4-FFF2-40B4-BE49-F238E27FC236}">
                <a16:creationId xmlns:a16="http://schemas.microsoft.com/office/drawing/2014/main" id="{6FC81390-1760-406A-8EDB-59F44A90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RQ4：训练时需要多少噪声，才能可靠训练出准确的 FT gate？</a:t>
            </a:r>
          </a:p>
        </p:txBody>
      </p:sp>
      <p:sp>
        <p:nvSpPr>
          <p:cNvPr id="6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121B238E-D0D7-4F56-A142-F34C2EE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实验设计</a:t>
            </a:r>
          </a:p>
        </p:txBody>
      </p:sp>
      <p:sp>
        <p:nvSpPr>
          <p:cNvPr id="7" name="experiment">
            <a:extLst xmlns:a="http://schemas.openxmlformats.org/drawingml/2006/main">
              <a:ext uri="{FF2B5EF4-FFF2-40B4-BE49-F238E27FC236}">
                <a16:creationId xmlns:a16="http://schemas.microsoft.com/office/drawing/2014/main" id="{2F7E7075-9CF2-4957-8C9C-EF7279FB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先用同样的噪声水平 16 和 17 训练 H gate 与 S gate；再对 S gate 扫描训练 error probability，并在无噪声和 1PE 环境下测试 AFE。</a:t>
            </a:r>
          </a:p>
        </p:txBody>
      </p:sp>
      <p:sp>
        <p:nvSpPr>
          <p:cNvPr id="8" name="divider-610">
            <a:extLst xmlns:a="http://schemas.openxmlformats.org/drawingml/2006/main">
              <a:ext uri="{FF2B5EF4-FFF2-40B4-BE49-F238E27FC236}">
                <a16:creationId xmlns:a16="http://schemas.microsoft.com/office/drawing/2014/main" id="{545E78FC-7554-4D97-8C5A-3CBE0B53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9DB4FAB1-7904-43A9-942A-9C683B4C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结果分析</a:t>
            </a:r>
          </a:p>
        </p:txBody>
      </p:sp>
      <p:sp>
        <p:nvSpPr>
          <p:cNvPr id="10" name="analysis">
            <a:extLst xmlns:a="http://schemas.openxmlformats.org/drawingml/2006/main">
              <a:ext uri="{FF2B5EF4-FFF2-40B4-BE49-F238E27FC236}">
                <a16:creationId xmlns:a16="http://schemas.microsoft.com/office/drawing/2014/main" id="{A121129D-B6A5-476B-85FA-42C8A7FE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8" b="1">
                <a:solidFill>
                  <a:srgbClr val="111111"/>
                </a:solidFill>
              </a:defRPr>
            </a:pPr>
            <a:r>
              <a:rPr sz="1538" b="1">
                <a:solidFill>
                  <a:srgbClr val="111111"/>
                </a:solidFill>
              </a:rPr>
              <a:t>同一噪声水平对 H gate 有效，但对 S gate 失效；S gate 只有中间噪声范围可用。噪声不足会留下 virtual error，噪声过多会破坏训练。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dea193d7f4d73"/>
          <a:stretch xmlns:a="http://schemas.openxmlformats.org/drawingml/2006/main"/>
        </p:blipFill>
        <p:spPr>
          <a:xfrm xmlns:a="http://schemas.openxmlformats.org/drawingml/2006/main">
            <a:off x="2960461" y="3086100"/>
            <a:ext cx="6271079" cy="2362200"/>
          </a:xfrm>
          <a:prstGeom xmlns:a="http://schemas.openxmlformats.org/drawingml/2006/main" prst="rect">
            <a:avLst/>
          </a:prstGeom>
        </p:spPr>
      </p:pic>
      <p:sp>
        <p:nvSpPr>
          <p:cNvPr id="12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6DA0047F-795C-4F5E-835F-C191F580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图：左侧比较 H/S gate 在同一噪声水平下的表现；右侧扫描 S gate 的训练噪声概率。</a:t>
            </a:r>
          </a:p>
        </p:txBody>
      </p:sp>
    </p:spTree>
    <p:extLst>
      <p:ext uri="{BB962C8B-B14F-4D97-AF65-F5344CB8AC3E}">
        <p14:creationId xmlns:p14="http://schemas.microsoft.com/office/powerpoint/2010/main" val="965092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title">
            <a:extLst xmlns:a="http://schemas.openxmlformats.org/drawingml/2006/main">
              <a:ext uri="{FF2B5EF4-FFF2-40B4-BE49-F238E27FC236}">
                <a16:creationId xmlns:a16="http://schemas.microsoft.com/office/drawing/2014/main" id="{D35B92FB-B31C-448F-AD23-8C529D0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⑥ 如果走通用门分解，FT 线路开销会有多大？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365CD8B5-EC1F-4187-95CA-01C08B0B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transition">
            <a:extLst xmlns:a="http://schemas.openxmlformats.org/drawingml/2006/main">
              <a:ext uri="{FF2B5EF4-FFF2-40B4-BE49-F238E27FC236}">
                <a16:creationId xmlns:a16="http://schemas.microsoft.com/office/drawing/2014/main" id="{57BBEACF-B154-49D9-A1A7-C8D4980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>
                <a:solidFill>
                  <a:srgbClr val="333333"/>
                </a:solidFill>
              </a:defRPr>
            </a:pPr>
            <a:r>
              <a:rPr sz="1388">
                <a:solidFill>
                  <a:srgbClr val="333333"/>
                </a:solidFill>
              </a:rPr>
              <a:t>AutoQEC-I 可以得到一组可用 FT gates，但 Eastin-Knill 定理说明单个 QEC code 没有 universal FT gateset。一个自然想法是：先把任意逻辑线路分解到通用门集。</a:t>
            </a:r>
          </a:p>
        </p:txBody>
      </p:sp>
      <p:sp>
        <p:nvSpPr>
          <p:cNvPr id="4" name="rq-label">
            <a:extLst xmlns:a="http://schemas.openxmlformats.org/drawingml/2006/main">
              <a:ext uri="{FF2B5EF4-FFF2-40B4-BE49-F238E27FC236}">
                <a16:creationId xmlns:a16="http://schemas.microsoft.com/office/drawing/2014/main" id="{18C21CE4-A2C8-4204-9574-0460E53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产生的 Research Question</a:t>
            </a:r>
          </a:p>
        </p:txBody>
      </p:sp>
      <p:sp>
        <p:nvSpPr>
          <p:cNvPr id="5" name="rq">
            <a:extLst xmlns:a="http://schemas.openxmlformats.org/drawingml/2006/main">
              <a:ext uri="{FF2B5EF4-FFF2-40B4-BE49-F238E27FC236}">
                <a16:creationId xmlns:a16="http://schemas.microsoft.com/office/drawing/2014/main" id="{55B08A8C-049C-4C61-BFA9-71B5ACF9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RQ5：如果能支持 universal FT gateset，能否直接用传统量子编译实现任意逻辑线路？</a:t>
            </a:r>
          </a:p>
        </p:txBody>
      </p:sp>
      <p:sp>
        <p:nvSpPr>
          <p:cNvPr id="6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ECF0A3F0-7C8E-4F96-B1FD-720B843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实验设计</a:t>
            </a:r>
          </a:p>
        </p:txBody>
      </p:sp>
      <p:sp>
        <p:nvSpPr>
          <p:cNvPr id="7" name="experiment">
            <a:extLst xmlns:a="http://schemas.openxmlformats.org/drawingml/2006/main">
              <a:ext uri="{FF2B5EF4-FFF2-40B4-BE49-F238E27FC236}">
                <a16:creationId xmlns:a16="http://schemas.microsoft.com/office/drawing/2014/main" id="{8887D0E8-33C7-4DC2-808F-7B97323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用 Solovay-Kitaev 分解单个 RZ gate，并设置 1e-1、1e-2、1e-3 三种近似误差；再与 Gridsynth 和 small-angle rotation 的分解数量对比。</a:t>
            </a:r>
          </a:p>
        </p:txBody>
      </p:sp>
      <p:sp>
        <p:nvSpPr>
          <p:cNvPr id="8" name="divider-610">
            <a:extLst xmlns:a="http://schemas.openxmlformats.org/drawingml/2006/main">
              <a:ext uri="{FF2B5EF4-FFF2-40B4-BE49-F238E27FC236}">
                <a16:creationId xmlns:a16="http://schemas.microsoft.com/office/drawing/2014/main" id="{5FE062E7-F222-4B5C-BD59-448234F9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C08CAC83-B99C-44CB-9645-30CDF78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结果分析</a:t>
            </a:r>
          </a:p>
        </p:txBody>
      </p:sp>
      <p:sp>
        <p:nvSpPr>
          <p:cNvPr id="10" name="analysis">
            <a:extLst xmlns:a="http://schemas.openxmlformats.org/drawingml/2006/main">
              <a:ext uri="{FF2B5EF4-FFF2-40B4-BE49-F238E27FC236}">
                <a16:creationId xmlns:a16="http://schemas.microsoft.com/office/drawing/2014/main" id="{F6DC6F5F-6657-4B25-91E6-7A5DB97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即使只分解单个 RZ gate，Solovay-Kitaev 在 1e-3 误差下也需要约 2.4-2.6 万个门和 6.5-7.2 千个 T gate。通用分解会把 FTQC 线路复杂度放大到难以承受。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77396d18e4417"/>
          <a:stretch xmlns:a="http://schemas.openxmlformats.org/drawingml/2006/main"/>
        </p:blipFill>
        <p:spPr>
          <a:xfrm xmlns:a="http://schemas.openxmlformats.org/drawingml/2006/main">
            <a:off x="819150" y="3284084"/>
            <a:ext cx="4953000" cy="1680482"/>
          </a:xfrm>
          <a:prstGeom xmlns:a="http://schemas.openxmlformats.org/drawingml/2006/main" prst="rect">
            <a:avLst/>
          </a:prstGeom>
        </p:spPr>
      </p:pic>
      <p:sp>
        <p:nvSpPr>
          <p:cNvPr id="12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51168B9B-2C4F-43E1-93F8-75C0ACE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图：RZ gate 在不同近似误差下的分解门数。</a:t>
            </a:r>
          </a:p>
        </p:txBody>
      </p:sp>
      <p:sp>
        <p:nvSpPr>
          <p:cNvPr id="13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884975E7-D28D-4294-AD74-9B6FCCE7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1295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14" name="table-text-0-0">
            <a:extLst xmlns:a="http://schemas.openxmlformats.org/drawingml/2006/main">
              <a:ext uri="{FF2B5EF4-FFF2-40B4-BE49-F238E27FC236}">
                <a16:creationId xmlns:a16="http://schemas.microsoft.com/office/drawing/2014/main" id="{5D882185-393C-43FB-9CDA-992E9F8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方法</a:t>
            </a:r>
          </a:p>
        </p:txBody>
      </p:sp>
      <p:sp>
        <p:nvSpPr>
          <p:cNvPr id="15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4EEA9186-1A68-4573-B170-0CB0C9F8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590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16" name="table-text-0-1">
            <a:extLst xmlns:a="http://schemas.openxmlformats.org/drawingml/2006/main">
              <a:ext uri="{FF2B5EF4-FFF2-40B4-BE49-F238E27FC236}">
                <a16:creationId xmlns:a16="http://schemas.microsoft.com/office/drawing/2014/main" id="{453CAD01-7B0C-41F8-BC76-EAEF9DC1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242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指标</a:t>
            </a:r>
          </a:p>
        </p:txBody>
      </p:sp>
      <p:sp>
        <p:nvSpPr>
          <p:cNvPr id="17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752572CA-84DA-4D42-94FE-31D1CD8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628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18" name="table-text-0-2">
            <a:extLst xmlns:a="http://schemas.openxmlformats.org/drawingml/2006/main">
              <a:ext uri="{FF2B5EF4-FFF2-40B4-BE49-F238E27FC236}">
                <a16:creationId xmlns:a16="http://schemas.microsoft.com/office/drawing/2014/main" id="{A4A86BDC-E1B8-4C04-94BB-0E95021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242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π/100</a:t>
            </a:r>
          </a:p>
        </p:txBody>
      </p:sp>
      <p:sp>
        <p:nvSpPr>
          <p:cNvPr id="19" name="table-cell-0-3">
            <a:extLst xmlns:a="http://schemas.openxmlformats.org/drawingml/2006/main">
              <a:ext uri="{FF2B5EF4-FFF2-40B4-BE49-F238E27FC236}">
                <a16:creationId xmlns:a16="http://schemas.microsoft.com/office/drawing/2014/main" id="{17BA7542-05D3-4D46-B56E-1AB886FE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20" name="table-text-0-3">
            <a:extLst xmlns:a="http://schemas.openxmlformats.org/drawingml/2006/main">
              <a:ext uri="{FF2B5EF4-FFF2-40B4-BE49-F238E27FC236}">
                <a16:creationId xmlns:a16="http://schemas.microsoft.com/office/drawing/2014/main" id="{FD85AB20-99F3-4B3E-911E-43E6127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24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10π/100</a:t>
            </a:r>
          </a:p>
        </p:txBody>
      </p:sp>
      <p:sp>
        <p:nvSpPr>
          <p:cNvPr id="21" name="table-cell-0-4">
            <a:extLst xmlns:a="http://schemas.openxmlformats.org/drawingml/2006/main">
              <a:ext uri="{FF2B5EF4-FFF2-40B4-BE49-F238E27FC236}">
                <a16:creationId xmlns:a16="http://schemas.microsoft.com/office/drawing/2014/main" id="{2628FC9B-A68F-4ACE-B09E-BE1003D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766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22" name="table-text-0-4">
            <a:extLst xmlns:a="http://schemas.openxmlformats.org/drawingml/2006/main">
              <a:ext uri="{FF2B5EF4-FFF2-40B4-BE49-F238E27FC236}">
                <a16:creationId xmlns:a16="http://schemas.microsoft.com/office/drawing/2014/main" id="{0AF49D22-3562-4874-8658-F99D786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20π/100</a:t>
            </a:r>
          </a:p>
        </p:txBody>
      </p:sp>
      <p:sp>
        <p:nvSpPr>
          <p:cNvPr id="23" name="table-cell-0-5">
            <a:extLst xmlns:a="http://schemas.openxmlformats.org/drawingml/2006/main">
              <a:ext uri="{FF2B5EF4-FFF2-40B4-BE49-F238E27FC236}">
                <a16:creationId xmlns:a16="http://schemas.microsoft.com/office/drawing/2014/main" id="{EA580E8D-9BEB-4B1D-88BE-18E8633A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766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24" name="table-text-0-5">
            <a:extLst xmlns:a="http://schemas.openxmlformats.org/drawingml/2006/main">
              <a:ext uri="{FF2B5EF4-FFF2-40B4-BE49-F238E27FC236}">
                <a16:creationId xmlns:a16="http://schemas.microsoft.com/office/drawing/2014/main" id="{4F344BD0-F15C-4D3E-AE59-A57C6CE1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24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30π/100</a:t>
            </a:r>
          </a:p>
        </p:txBody>
      </p:sp>
      <p:sp>
        <p:nvSpPr>
          <p:cNvPr id="25" name="table-cell-0-6">
            <a:extLst xmlns:a="http://schemas.openxmlformats.org/drawingml/2006/main">
              <a:ext uri="{FF2B5EF4-FFF2-40B4-BE49-F238E27FC236}">
                <a16:creationId xmlns:a16="http://schemas.microsoft.com/office/drawing/2014/main" id="{548C04F7-1C52-4B43-9C08-58E715CB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766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26" name="table-text-0-6">
            <a:extLst xmlns:a="http://schemas.openxmlformats.org/drawingml/2006/main">
              <a:ext uri="{FF2B5EF4-FFF2-40B4-BE49-F238E27FC236}">
                <a16:creationId xmlns:a16="http://schemas.microsoft.com/office/drawing/2014/main" id="{1FAC6F96-225C-4B02-83A9-42E5CEF9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24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40π/100</a:t>
            </a:r>
          </a:p>
        </p:txBody>
      </p:sp>
      <p:sp>
        <p:nvSpPr>
          <p:cNvPr id="27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F14A22B1-9DA2-455A-A60C-E19AFA7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71875"/>
            <a:ext cx="1295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28" name="table-text-1-0">
            <a:extLst xmlns:a="http://schemas.openxmlformats.org/drawingml/2006/main">
              <a:ext uri="{FF2B5EF4-FFF2-40B4-BE49-F238E27FC236}">
                <a16:creationId xmlns:a16="http://schemas.microsoft.com/office/drawing/2014/main" id="{BB973F12-F28A-4B6B-8678-016F76DB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Solovay-Kitaev</a:t>
            </a:r>
          </a:p>
        </p:txBody>
      </p:sp>
      <p:sp>
        <p:nvSpPr>
          <p:cNvPr id="29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C94E8BD3-4660-4939-9DFE-1D57A3EB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71875"/>
            <a:ext cx="590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30" name="table-text-1-1">
            <a:extLst xmlns:a="http://schemas.openxmlformats.org/drawingml/2006/main">
              <a:ext uri="{FF2B5EF4-FFF2-40B4-BE49-F238E27FC236}">
                <a16:creationId xmlns:a16="http://schemas.microsoft.com/office/drawing/2014/main" id="{0301990B-8339-40FB-BEAC-54C15B84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19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#DG</a:t>
            </a:r>
          </a:p>
        </p:txBody>
      </p:sp>
      <p:sp>
        <p:nvSpPr>
          <p:cNvPr id="31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70DC016C-D1AA-4920-8C73-A5B0838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628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32" name="table-text-1-2">
            <a:extLst xmlns:a="http://schemas.openxmlformats.org/drawingml/2006/main">
              <a:ext uri="{FF2B5EF4-FFF2-40B4-BE49-F238E27FC236}">
                <a16:creationId xmlns:a16="http://schemas.microsoft.com/office/drawing/2014/main" id="{5099EE71-A1BD-42FE-B5CB-0624FDE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24465</a:t>
            </a:r>
          </a:p>
        </p:txBody>
      </p:sp>
      <p:sp>
        <p:nvSpPr>
          <p:cNvPr id="33" name="table-cell-1-3">
            <a:extLst xmlns:a="http://schemas.openxmlformats.org/drawingml/2006/main">
              <a:ext uri="{FF2B5EF4-FFF2-40B4-BE49-F238E27FC236}">
                <a16:creationId xmlns:a16="http://schemas.microsoft.com/office/drawing/2014/main" id="{751DF759-54F8-4283-A250-10A42FB6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718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34" name="table-text-1-3">
            <a:extLst xmlns:a="http://schemas.openxmlformats.org/drawingml/2006/main">
              <a:ext uri="{FF2B5EF4-FFF2-40B4-BE49-F238E27FC236}">
                <a16:creationId xmlns:a16="http://schemas.microsoft.com/office/drawing/2014/main" id="{66A89F14-0E61-42CA-AA2B-3F402032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24858</a:t>
            </a:r>
          </a:p>
        </p:txBody>
      </p:sp>
      <p:sp>
        <p:nvSpPr>
          <p:cNvPr id="35" name="table-cell-1-4">
            <a:extLst xmlns:a="http://schemas.openxmlformats.org/drawingml/2006/main">
              <a:ext uri="{FF2B5EF4-FFF2-40B4-BE49-F238E27FC236}">
                <a16:creationId xmlns:a16="http://schemas.microsoft.com/office/drawing/2014/main" id="{4CEBAD05-887C-4B08-B75B-5507A97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36" name="table-text-1-4">
            <a:extLst xmlns:a="http://schemas.openxmlformats.org/drawingml/2006/main">
              <a:ext uri="{FF2B5EF4-FFF2-40B4-BE49-F238E27FC236}">
                <a16:creationId xmlns:a16="http://schemas.microsoft.com/office/drawing/2014/main" id="{5CD1D44C-4927-4F70-9592-AB180AA0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24026</a:t>
            </a:r>
          </a:p>
        </p:txBody>
      </p:sp>
      <p:sp>
        <p:nvSpPr>
          <p:cNvPr id="37" name="table-cell-1-5">
            <a:extLst xmlns:a="http://schemas.openxmlformats.org/drawingml/2006/main">
              <a:ext uri="{FF2B5EF4-FFF2-40B4-BE49-F238E27FC236}">
                <a16:creationId xmlns:a16="http://schemas.microsoft.com/office/drawing/2014/main" id="{40F41B82-43A8-46F9-91B4-36FBF6E5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38" name="table-text-1-5">
            <a:extLst xmlns:a="http://schemas.openxmlformats.org/drawingml/2006/main">
              <a:ext uri="{FF2B5EF4-FFF2-40B4-BE49-F238E27FC236}">
                <a16:creationId xmlns:a16="http://schemas.microsoft.com/office/drawing/2014/main" id="{17BD11B7-3934-4031-A62C-39946B09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195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25534</a:t>
            </a:r>
          </a:p>
        </p:txBody>
      </p:sp>
      <p:sp>
        <p:nvSpPr>
          <p:cNvPr id="39" name="table-cell-1-6">
            <a:extLst xmlns:a="http://schemas.openxmlformats.org/drawingml/2006/main">
              <a:ext uri="{FF2B5EF4-FFF2-40B4-BE49-F238E27FC236}">
                <a16:creationId xmlns:a16="http://schemas.microsoft.com/office/drawing/2014/main" id="{285B424A-5C60-4D2A-9CDD-3AAE343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5718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40" name="table-text-1-6">
            <a:extLst xmlns:a="http://schemas.openxmlformats.org/drawingml/2006/main">
              <a:ext uri="{FF2B5EF4-FFF2-40B4-BE49-F238E27FC236}">
                <a16:creationId xmlns:a16="http://schemas.microsoft.com/office/drawing/2014/main" id="{F85C316A-F828-49FB-80BC-947D528B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195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24207</a:t>
            </a:r>
          </a:p>
        </p:txBody>
      </p:sp>
      <p:sp>
        <p:nvSpPr>
          <p:cNvPr id="41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D87677FB-B057-4202-93DC-656182F4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1295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42" name="table-text-2-0">
            <a:extLst xmlns:a="http://schemas.openxmlformats.org/drawingml/2006/main">
              <a:ext uri="{FF2B5EF4-FFF2-40B4-BE49-F238E27FC236}">
                <a16:creationId xmlns:a16="http://schemas.microsoft.com/office/drawing/2014/main" id="{439692F1-9526-4DC5-AB85-125C0C2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1477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Solovay-Kitaev</a:t>
            </a:r>
          </a:p>
        </p:txBody>
      </p:sp>
      <p:sp>
        <p:nvSpPr>
          <p:cNvPr id="43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8B54E9F8-D136-4C18-97BE-499EFD58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67150"/>
            <a:ext cx="590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44" name="table-text-2-1">
            <a:extLst xmlns:a="http://schemas.openxmlformats.org/drawingml/2006/main">
              <a:ext uri="{FF2B5EF4-FFF2-40B4-BE49-F238E27FC236}">
                <a16:creationId xmlns:a16="http://schemas.microsoft.com/office/drawing/2014/main" id="{1ABF98CD-1CC1-4489-B96B-3A91E8D1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147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#T</a:t>
            </a:r>
          </a:p>
        </p:txBody>
      </p:sp>
      <p:sp>
        <p:nvSpPr>
          <p:cNvPr id="45" name="table-cell-2-2">
            <a:extLst xmlns:a="http://schemas.openxmlformats.org/drawingml/2006/main">
              <a:ext uri="{FF2B5EF4-FFF2-40B4-BE49-F238E27FC236}">
                <a16:creationId xmlns:a16="http://schemas.microsoft.com/office/drawing/2014/main" id="{70E98797-E497-4A06-89C2-089E49A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628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46" name="table-text-2-2">
            <a:extLst xmlns:a="http://schemas.openxmlformats.org/drawingml/2006/main">
              <a:ext uri="{FF2B5EF4-FFF2-40B4-BE49-F238E27FC236}">
                <a16:creationId xmlns:a16="http://schemas.microsoft.com/office/drawing/2014/main" id="{09936BEE-CFE0-4E53-BEF1-7E9C5B6B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147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6704</a:t>
            </a:r>
          </a:p>
        </p:txBody>
      </p:sp>
      <p:sp>
        <p:nvSpPr>
          <p:cNvPr id="47" name="table-cell-2-3">
            <a:extLst xmlns:a="http://schemas.openxmlformats.org/drawingml/2006/main">
              <a:ext uri="{FF2B5EF4-FFF2-40B4-BE49-F238E27FC236}">
                <a16:creationId xmlns:a16="http://schemas.microsoft.com/office/drawing/2014/main" id="{4DD8897B-6652-4FFC-9D9E-FD7E7410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48" name="table-text-2-3">
            <a:extLst xmlns:a="http://schemas.openxmlformats.org/drawingml/2006/main">
              <a:ext uri="{FF2B5EF4-FFF2-40B4-BE49-F238E27FC236}">
                <a16:creationId xmlns:a16="http://schemas.microsoft.com/office/drawing/2014/main" id="{18937FB4-E5CC-43C4-9D1D-DFEA27A9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147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7256</a:t>
            </a:r>
          </a:p>
        </p:txBody>
      </p:sp>
      <p:sp>
        <p:nvSpPr>
          <p:cNvPr id="49" name="table-cell-2-4">
            <a:extLst xmlns:a="http://schemas.openxmlformats.org/drawingml/2006/main">
              <a:ext uri="{FF2B5EF4-FFF2-40B4-BE49-F238E27FC236}">
                <a16:creationId xmlns:a16="http://schemas.microsoft.com/office/drawing/2014/main" id="{890BFB8A-5537-4A86-AAF2-FCF6A8B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6715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50" name="table-text-2-4">
            <a:extLst xmlns:a="http://schemas.openxmlformats.org/drawingml/2006/main">
              <a:ext uri="{FF2B5EF4-FFF2-40B4-BE49-F238E27FC236}">
                <a16:creationId xmlns:a16="http://schemas.microsoft.com/office/drawing/2014/main" id="{B9492293-A2CB-42F4-9F50-E1A37309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147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6511</a:t>
            </a:r>
          </a:p>
        </p:txBody>
      </p:sp>
      <p:sp>
        <p:nvSpPr>
          <p:cNvPr id="51" name="table-cell-2-5">
            <a:extLst xmlns:a="http://schemas.openxmlformats.org/drawingml/2006/main">
              <a:ext uri="{FF2B5EF4-FFF2-40B4-BE49-F238E27FC236}">
                <a16:creationId xmlns:a16="http://schemas.microsoft.com/office/drawing/2014/main" id="{9994C758-3913-477C-87F6-4CF66301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6715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52" name="table-text-2-5">
            <a:extLst xmlns:a="http://schemas.openxmlformats.org/drawingml/2006/main">
              <a:ext uri="{FF2B5EF4-FFF2-40B4-BE49-F238E27FC236}">
                <a16:creationId xmlns:a16="http://schemas.microsoft.com/office/drawing/2014/main" id="{65A79C80-BC3C-4B1B-9C56-B32DA5C6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147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6985</a:t>
            </a:r>
          </a:p>
        </p:txBody>
      </p:sp>
      <p:sp>
        <p:nvSpPr>
          <p:cNvPr id="53" name="table-cell-2-6">
            <a:extLst xmlns:a="http://schemas.openxmlformats.org/drawingml/2006/main">
              <a:ext uri="{FF2B5EF4-FFF2-40B4-BE49-F238E27FC236}">
                <a16:creationId xmlns:a16="http://schemas.microsoft.com/office/drawing/2014/main" id="{1FA3E563-ACA4-49E8-9301-A2D52A2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6715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54" name="table-text-2-6">
            <a:extLst xmlns:a="http://schemas.openxmlformats.org/drawingml/2006/main">
              <a:ext uri="{FF2B5EF4-FFF2-40B4-BE49-F238E27FC236}">
                <a16:creationId xmlns:a16="http://schemas.microsoft.com/office/drawing/2014/main" id="{0A59FE67-F058-4284-860A-0B355530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9147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6686</a:t>
            </a:r>
          </a:p>
        </p:txBody>
      </p:sp>
      <p:sp>
        <p:nvSpPr>
          <p:cNvPr id="55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9485DB87-7E1F-4A8C-A2C7-60CC9E9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2425"/>
            <a:ext cx="1295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56" name="table-text-3-0">
            <a:extLst xmlns:a="http://schemas.openxmlformats.org/drawingml/2006/main">
              <a:ext uri="{FF2B5EF4-FFF2-40B4-BE49-F238E27FC236}">
                <a16:creationId xmlns:a16="http://schemas.microsoft.com/office/drawing/2014/main" id="{74CF55F8-FA1E-4C7F-947F-9AF7B7FD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Gridsynth</a:t>
            </a:r>
          </a:p>
        </p:txBody>
      </p:sp>
      <p:sp>
        <p:nvSpPr>
          <p:cNvPr id="57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6E285FF5-93A1-4F95-A165-06E4F41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62425"/>
            <a:ext cx="590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58" name="table-text-3-1">
            <a:extLst xmlns:a="http://schemas.openxmlformats.org/drawingml/2006/main">
              <a:ext uri="{FF2B5EF4-FFF2-40B4-BE49-F238E27FC236}">
                <a16:creationId xmlns:a16="http://schemas.microsoft.com/office/drawing/2014/main" id="{9F9C4150-2123-4438-B1AA-D2669C2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100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#DG</a:t>
            </a:r>
          </a:p>
        </p:txBody>
      </p:sp>
      <p:sp>
        <p:nvSpPr>
          <p:cNvPr id="59" name="table-cell-3-2">
            <a:extLst xmlns:a="http://schemas.openxmlformats.org/drawingml/2006/main">
              <a:ext uri="{FF2B5EF4-FFF2-40B4-BE49-F238E27FC236}">
                <a16:creationId xmlns:a16="http://schemas.microsoft.com/office/drawing/2014/main" id="{29484E1C-65B1-447E-9B78-EE101273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62425"/>
            <a:ext cx="628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60" name="table-text-3-2">
            <a:extLst xmlns:a="http://schemas.openxmlformats.org/drawingml/2006/main">
              <a:ext uri="{FF2B5EF4-FFF2-40B4-BE49-F238E27FC236}">
                <a16:creationId xmlns:a16="http://schemas.microsoft.com/office/drawing/2014/main" id="{492893D5-CCE0-4257-B910-36B2B79C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263</a:t>
            </a:r>
          </a:p>
        </p:txBody>
      </p:sp>
      <p:sp>
        <p:nvSpPr>
          <p:cNvPr id="61" name="table-cell-3-3">
            <a:extLst xmlns:a="http://schemas.openxmlformats.org/drawingml/2006/main">
              <a:ext uri="{FF2B5EF4-FFF2-40B4-BE49-F238E27FC236}">
                <a16:creationId xmlns:a16="http://schemas.microsoft.com/office/drawing/2014/main" id="{B77AAE95-93B3-4345-B11C-2036107E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6242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62" name="table-text-3-3">
            <a:extLst xmlns:a="http://schemas.openxmlformats.org/drawingml/2006/main">
              <a:ext uri="{FF2B5EF4-FFF2-40B4-BE49-F238E27FC236}">
                <a16:creationId xmlns:a16="http://schemas.microsoft.com/office/drawing/2014/main" id="{4D45E35F-F7FC-4BA8-B583-44CB830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267</a:t>
            </a:r>
          </a:p>
        </p:txBody>
      </p:sp>
      <p:sp>
        <p:nvSpPr>
          <p:cNvPr id="63" name="table-cell-3-4">
            <a:extLst xmlns:a="http://schemas.openxmlformats.org/drawingml/2006/main">
              <a:ext uri="{FF2B5EF4-FFF2-40B4-BE49-F238E27FC236}">
                <a16:creationId xmlns:a16="http://schemas.microsoft.com/office/drawing/2014/main" id="{7B9469D8-1B6A-474E-81CB-F04BBE2F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6242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64" name="table-text-3-4">
            <a:extLst xmlns:a="http://schemas.openxmlformats.org/drawingml/2006/main">
              <a:ext uri="{FF2B5EF4-FFF2-40B4-BE49-F238E27FC236}">
                <a16:creationId xmlns:a16="http://schemas.microsoft.com/office/drawing/2014/main" id="{F852D0C8-BCAB-44C5-985F-1B17DF1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005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281</a:t>
            </a:r>
          </a:p>
        </p:txBody>
      </p:sp>
      <p:sp>
        <p:nvSpPr>
          <p:cNvPr id="65" name="table-cell-3-5">
            <a:extLst xmlns:a="http://schemas.openxmlformats.org/drawingml/2006/main">
              <a:ext uri="{FF2B5EF4-FFF2-40B4-BE49-F238E27FC236}">
                <a16:creationId xmlns:a16="http://schemas.microsoft.com/office/drawing/2014/main" id="{D3B77156-E580-46E7-AD75-64BA6AB5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6242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66" name="table-text-3-5">
            <a:extLst xmlns:a="http://schemas.openxmlformats.org/drawingml/2006/main">
              <a:ext uri="{FF2B5EF4-FFF2-40B4-BE49-F238E27FC236}">
                <a16:creationId xmlns:a16="http://schemas.microsoft.com/office/drawing/2014/main" id="{18F46F5A-F3C5-41B0-B1CD-B8385CE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1005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286</a:t>
            </a:r>
          </a:p>
        </p:txBody>
      </p:sp>
      <p:sp>
        <p:nvSpPr>
          <p:cNvPr id="67" name="table-cell-3-6">
            <a:extLst xmlns:a="http://schemas.openxmlformats.org/drawingml/2006/main">
              <a:ext uri="{FF2B5EF4-FFF2-40B4-BE49-F238E27FC236}">
                <a16:creationId xmlns:a16="http://schemas.microsoft.com/office/drawing/2014/main" id="{D22A15B4-AA07-45C5-9698-39DF611E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6242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68" name="table-text-3-6">
            <a:extLst xmlns:a="http://schemas.openxmlformats.org/drawingml/2006/main">
              <a:ext uri="{FF2B5EF4-FFF2-40B4-BE49-F238E27FC236}">
                <a16:creationId xmlns:a16="http://schemas.microsoft.com/office/drawing/2014/main" id="{DEBBEE0F-6CB4-42C5-A8CF-A09D6229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21005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258</a:t>
            </a:r>
          </a:p>
        </p:txBody>
      </p:sp>
      <p:sp>
        <p:nvSpPr>
          <p:cNvPr id="69" name="table-cell-4-0">
            <a:extLst xmlns:a="http://schemas.openxmlformats.org/drawingml/2006/main">
              <a:ext uri="{FF2B5EF4-FFF2-40B4-BE49-F238E27FC236}">
                <a16:creationId xmlns:a16="http://schemas.microsoft.com/office/drawing/2014/main" id="{0785127F-19F8-45C2-9242-EAB80DA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57700"/>
            <a:ext cx="1295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70" name="table-text-4-0">
            <a:extLst xmlns:a="http://schemas.openxmlformats.org/drawingml/2006/main">
              <a:ext uri="{FF2B5EF4-FFF2-40B4-BE49-F238E27FC236}">
                <a16:creationId xmlns:a16="http://schemas.microsoft.com/office/drawing/2014/main" id="{14B9D24B-2DC5-499E-A541-2531939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053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Gridsynth</a:t>
            </a:r>
          </a:p>
        </p:txBody>
      </p:sp>
      <p:sp>
        <p:nvSpPr>
          <p:cNvPr id="71" name="table-cell-4-1">
            <a:extLst xmlns:a="http://schemas.openxmlformats.org/drawingml/2006/main">
              <a:ext uri="{FF2B5EF4-FFF2-40B4-BE49-F238E27FC236}">
                <a16:creationId xmlns:a16="http://schemas.microsoft.com/office/drawing/2014/main" id="{957D5800-6774-4306-9346-953AE36E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590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72" name="table-text-4-1">
            <a:extLst xmlns:a="http://schemas.openxmlformats.org/drawingml/2006/main">
              <a:ext uri="{FF2B5EF4-FFF2-40B4-BE49-F238E27FC236}">
                <a16:creationId xmlns:a16="http://schemas.microsoft.com/office/drawing/2014/main" id="{ECD436D5-7B18-4CFE-A5A3-F963016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53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#T</a:t>
            </a:r>
          </a:p>
        </p:txBody>
      </p:sp>
      <p:sp>
        <p:nvSpPr>
          <p:cNvPr id="73" name="table-cell-4-2">
            <a:extLst xmlns:a="http://schemas.openxmlformats.org/drawingml/2006/main">
              <a:ext uri="{FF2B5EF4-FFF2-40B4-BE49-F238E27FC236}">
                <a16:creationId xmlns:a16="http://schemas.microsoft.com/office/drawing/2014/main" id="{66093E13-B40B-4477-864B-09B5B84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628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74" name="table-text-4-2">
            <a:extLst xmlns:a="http://schemas.openxmlformats.org/drawingml/2006/main">
              <a:ext uri="{FF2B5EF4-FFF2-40B4-BE49-F238E27FC236}">
                <a16:creationId xmlns:a16="http://schemas.microsoft.com/office/drawing/2014/main" id="{585BABF0-D8AD-4875-8F8C-7C22538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053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104</a:t>
            </a:r>
          </a:p>
        </p:txBody>
      </p:sp>
      <p:sp>
        <p:nvSpPr>
          <p:cNvPr id="75" name="table-cell-4-3">
            <a:extLst xmlns:a="http://schemas.openxmlformats.org/drawingml/2006/main">
              <a:ext uri="{FF2B5EF4-FFF2-40B4-BE49-F238E27FC236}">
                <a16:creationId xmlns:a16="http://schemas.microsoft.com/office/drawing/2014/main" id="{708E7381-D7AA-46E1-B69F-AFBDE586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76" name="table-text-4-3">
            <a:extLst xmlns:a="http://schemas.openxmlformats.org/drawingml/2006/main">
              <a:ext uri="{FF2B5EF4-FFF2-40B4-BE49-F238E27FC236}">
                <a16:creationId xmlns:a16="http://schemas.microsoft.com/office/drawing/2014/main" id="{96846E6E-1040-4B88-B832-B7B3AC30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053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104</a:t>
            </a:r>
          </a:p>
        </p:txBody>
      </p:sp>
      <p:sp>
        <p:nvSpPr>
          <p:cNvPr id="77" name="table-cell-4-4">
            <a:extLst xmlns:a="http://schemas.openxmlformats.org/drawingml/2006/main">
              <a:ext uri="{FF2B5EF4-FFF2-40B4-BE49-F238E27FC236}">
                <a16:creationId xmlns:a16="http://schemas.microsoft.com/office/drawing/2014/main" id="{09DD109D-0BA3-4521-84AA-D22A624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78" name="table-text-4-4">
            <a:extLst xmlns:a="http://schemas.openxmlformats.org/drawingml/2006/main">
              <a:ext uri="{FF2B5EF4-FFF2-40B4-BE49-F238E27FC236}">
                <a16:creationId xmlns:a16="http://schemas.microsoft.com/office/drawing/2014/main" id="{77E3A21F-2D52-4052-94D9-526C09C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053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106</a:t>
            </a:r>
          </a:p>
        </p:txBody>
      </p:sp>
      <p:sp>
        <p:nvSpPr>
          <p:cNvPr id="79" name="table-cell-4-5">
            <a:extLst xmlns:a="http://schemas.openxmlformats.org/drawingml/2006/main">
              <a:ext uri="{FF2B5EF4-FFF2-40B4-BE49-F238E27FC236}">
                <a16:creationId xmlns:a16="http://schemas.microsoft.com/office/drawing/2014/main" id="{DAD51CDD-7409-40E4-BB25-6197389D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577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80" name="table-text-4-5">
            <a:extLst xmlns:a="http://schemas.openxmlformats.org/drawingml/2006/main">
              <a:ext uri="{FF2B5EF4-FFF2-40B4-BE49-F238E27FC236}">
                <a16:creationId xmlns:a16="http://schemas.microsoft.com/office/drawing/2014/main" id="{6B9AE131-8322-483E-831E-9D90E06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53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106</a:t>
            </a:r>
          </a:p>
        </p:txBody>
      </p:sp>
      <p:sp>
        <p:nvSpPr>
          <p:cNvPr id="81" name="table-cell-4-6">
            <a:extLst xmlns:a="http://schemas.openxmlformats.org/drawingml/2006/main">
              <a:ext uri="{FF2B5EF4-FFF2-40B4-BE49-F238E27FC236}">
                <a16:creationId xmlns:a16="http://schemas.microsoft.com/office/drawing/2014/main" id="{BAE4A994-F492-4858-B6D6-16FEB41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457700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82" name="table-text-4-6">
            <a:extLst xmlns:a="http://schemas.openxmlformats.org/drawingml/2006/main">
              <a:ext uri="{FF2B5EF4-FFF2-40B4-BE49-F238E27FC236}">
                <a16:creationId xmlns:a16="http://schemas.microsoft.com/office/drawing/2014/main" id="{712C21FC-291F-46C0-B797-3EC04707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053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104</a:t>
            </a:r>
          </a:p>
        </p:txBody>
      </p:sp>
      <p:sp>
        <p:nvSpPr>
          <p:cNvPr id="83" name="table-cell-5-0">
            <a:extLst xmlns:a="http://schemas.openxmlformats.org/drawingml/2006/main">
              <a:ext uri="{FF2B5EF4-FFF2-40B4-BE49-F238E27FC236}">
                <a16:creationId xmlns:a16="http://schemas.microsoft.com/office/drawing/2014/main" id="{E21D24A9-2FAF-4A87-B023-14A1ECE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52975"/>
            <a:ext cx="1295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84" name="table-text-5-0">
            <a:extLst xmlns:a="http://schemas.openxmlformats.org/drawingml/2006/main">
              <a:ext uri="{FF2B5EF4-FFF2-40B4-BE49-F238E27FC236}">
                <a16:creationId xmlns:a16="http://schemas.microsoft.com/office/drawing/2014/main" id="{CEDE8E4D-AB5A-4DEB-92E1-623B488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Small-Angle</a:t>
            </a:r>
          </a:p>
        </p:txBody>
      </p:sp>
      <p:sp>
        <p:nvSpPr>
          <p:cNvPr id="85" name="table-cell-5-1">
            <a:extLst xmlns:a="http://schemas.openxmlformats.org/drawingml/2006/main">
              <a:ext uri="{FF2B5EF4-FFF2-40B4-BE49-F238E27FC236}">
                <a16:creationId xmlns:a16="http://schemas.microsoft.com/office/drawing/2014/main" id="{3E41AC7D-5320-4EF5-A722-E3AFDCC4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52975"/>
            <a:ext cx="590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86" name="table-text-5-1">
            <a:extLst xmlns:a="http://schemas.openxmlformats.org/drawingml/2006/main">
              <a:ext uri="{FF2B5EF4-FFF2-40B4-BE49-F238E27FC236}">
                <a16:creationId xmlns:a16="http://schemas.microsoft.com/office/drawing/2014/main" id="{372E3EDE-CF32-47C5-8F01-C4392FF0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006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#DG</a:t>
            </a:r>
          </a:p>
        </p:txBody>
      </p:sp>
      <p:sp>
        <p:nvSpPr>
          <p:cNvPr id="87" name="table-cell-5-2">
            <a:extLst xmlns:a="http://schemas.openxmlformats.org/drawingml/2006/main">
              <a:ext uri="{FF2B5EF4-FFF2-40B4-BE49-F238E27FC236}">
                <a16:creationId xmlns:a16="http://schemas.microsoft.com/office/drawing/2014/main" id="{98EB6EC2-59C0-479B-9559-7FC7372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52975"/>
            <a:ext cx="628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88" name="table-text-5-2">
            <a:extLst xmlns:a="http://schemas.openxmlformats.org/drawingml/2006/main">
              <a:ext uri="{FF2B5EF4-FFF2-40B4-BE49-F238E27FC236}">
                <a16:creationId xmlns:a16="http://schemas.microsoft.com/office/drawing/2014/main" id="{BD8376FA-63FE-4EB8-B0EC-331A5BAB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32</a:t>
            </a:r>
          </a:p>
        </p:txBody>
      </p:sp>
      <p:sp>
        <p:nvSpPr>
          <p:cNvPr id="89" name="table-cell-5-3">
            <a:extLst xmlns:a="http://schemas.openxmlformats.org/drawingml/2006/main">
              <a:ext uri="{FF2B5EF4-FFF2-40B4-BE49-F238E27FC236}">
                <a16:creationId xmlns:a16="http://schemas.microsoft.com/office/drawing/2014/main" id="{8A1D9870-026A-48B9-A448-00DEA4A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529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90" name="table-text-5-3">
            <a:extLst xmlns:a="http://schemas.openxmlformats.org/drawingml/2006/main">
              <a:ext uri="{FF2B5EF4-FFF2-40B4-BE49-F238E27FC236}">
                <a16:creationId xmlns:a16="http://schemas.microsoft.com/office/drawing/2014/main" id="{1DE48951-DD0C-4B04-BADA-76C87A6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006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315</a:t>
            </a:r>
          </a:p>
        </p:txBody>
      </p:sp>
      <p:sp>
        <p:nvSpPr>
          <p:cNvPr id="91" name="table-cell-5-4">
            <a:extLst xmlns:a="http://schemas.openxmlformats.org/drawingml/2006/main">
              <a:ext uri="{FF2B5EF4-FFF2-40B4-BE49-F238E27FC236}">
                <a16:creationId xmlns:a16="http://schemas.microsoft.com/office/drawing/2014/main" id="{9EA79112-2AB9-4471-9F7A-7C9B30D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529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92" name="table-text-5-4">
            <a:extLst xmlns:a="http://schemas.openxmlformats.org/drawingml/2006/main">
              <a:ext uri="{FF2B5EF4-FFF2-40B4-BE49-F238E27FC236}">
                <a16:creationId xmlns:a16="http://schemas.microsoft.com/office/drawing/2014/main" id="{E3CF0F40-3A96-40DF-B2E6-F7C6FDB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006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629</a:t>
            </a:r>
          </a:p>
        </p:txBody>
      </p:sp>
      <p:sp>
        <p:nvSpPr>
          <p:cNvPr id="93" name="table-cell-5-5">
            <a:extLst xmlns:a="http://schemas.openxmlformats.org/drawingml/2006/main">
              <a:ext uri="{FF2B5EF4-FFF2-40B4-BE49-F238E27FC236}">
                <a16:creationId xmlns:a16="http://schemas.microsoft.com/office/drawing/2014/main" id="{38B67341-98C6-4361-9D21-FE740EB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529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94" name="table-text-5-5">
            <a:extLst xmlns:a="http://schemas.openxmlformats.org/drawingml/2006/main">
              <a:ext uri="{FF2B5EF4-FFF2-40B4-BE49-F238E27FC236}">
                <a16:creationId xmlns:a16="http://schemas.microsoft.com/office/drawing/2014/main" id="{9AD64E3B-57D3-4B65-A79D-F79A7297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006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943</a:t>
            </a:r>
          </a:p>
        </p:txBody>
      </p:sp>
      <p:sp>
        <p:nvSpPr>
          <p:cNvPr id="95" name="table-cell-5-6">
            <a:extLst xmlns:a="http://schemas.openxmlformats.org/drawingml/2006/main">
              <a:ext uri="{FF2B5EF4-FFF2-40B4-BE49-F238E27FC236}">
                <a16:creationId xmlns:a16="http://schemas.microsoft.com/office/drawing/2014/main" id="{C796B07D-E870-4D96-8B0C-D1EA54F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752975"/>
            <a:ext cx="76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  <a:prstDash val="solid"/>
          </a:ln>
        </p:spPr>
      </p:sp>
      <p:sp>
        <p:nvSpPr>
          <p:cNvPr id="96" name="table-text-5-6">
            <a:extLst xmlns:a="http://schemas.openxmlformats.org/drawingml/2006/main">
              <a:ext uri="{FF2B5EF4-FFF2-40B4-BE49-F238E27FC236}">
                <a16:creationId xmlns:a16="http://schemas.microsoft.com/office/drawing/2014/main" id="{EEE84D5A-8D34-4D75-9D09-16DA55D4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8006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1257</a:t>
            </a:r>
          </a:p>
        </p:txBody>
      </p:sp>
      <p:sp>
        <p:nvSpPr>
          <p:cNvPr id="97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867C7110-C642-4B24-BD71-67D0C414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05400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表：单个 RZ gate 的分解门数和 T gate 数量。</a:t>
            </a:r>
          </a:p>
        </p:txBody>
      </p:sp>
    </p:spTree>
    <p:extLst>
      <p:ext uri="{BB962C8B-B14F-4D97-AF65-F5344CB8AC3E}">
        <p14:creationId xmlns:p14="http://schemas.microsoft.com/office/powerpoint/2010/main" val="521285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C0C93185-0DE4-4231-BF5E-EB326328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⑦ 不同 QEC code 是否共享同一组 FT gateset？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8F8521F6-6A6D-4675-9F88-D412B93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transition">
            <a:extLst xmlns:a="http://schemas.openxmlformats.org/drawingml/2006/main">
              <a:ext uri="{FF2B5EF4-FFF2-40B4-BE49-F238E27FC236}">
                <a16:creationId xmlns:a16="http://schemas.microsoft.com/office/drawing/2014/main" id="{5880CDAF-F32D-4066-9B3E-B3ACBF79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333333"/>
                </a:solidFill>
              </a:defRPr>
            </a:pPr>
            <a:r>
              <a:rPr sz="1463">
                <a:solidFill>
                  <a:srgbClr val="333333"/>
                </a:solidFill>
              </a:rPr>
              <a:t>上一页说明：任意线路分解太贵，所以更现实的方向是直接使用 code 支持的 FT gates。接下来要问，这组可用 gates 能不能跨 QEC code 复用。</a:t>
            </a:r>
          </a:p>
        </p:txBody>
      </p:sp>
      <p:sp>
        <p:nvSpPr>
          <p:cNvPr id="4" name="rq-label">
            <a:extLst xmlns:a="http://schemas.openxmlformats.org/drawingml/2006/main">
              <a:ext uri="{FF2B5EF4-FFF2-40B4-BE49-F238E27FC236}">
                <a16:creationId xmlns:a16="http://schemas.microsoft.com/office/drawing/2014/main" id="{69323D87-A095-4EEC-BB20-4A9084D8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产生的 Research Question</a:t>
            </a:r>
          </a:p>
        </p:txBody>
      </p:sp>
      <p:sp>
        <p:nvSpPr>
          <p:cNvPr id="5" name="rq">
            <a:extLst xmlns:a="http://schemas.openxmlformats.org/drawingml/2006/main">
              <a:ext uri="{FF2B5EF4-FFF2-40B4-BE49-F238E27FC236}">
                <a16:creationId xmlns:a16="http://schemas.microsoft.com/office/drawing/2014/main" id="{C3378631-689A-4D7A-8553-37514A3C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RQ6：不同 QEC codes 是否共享相同的 transversal FT gateset？</a:t>
            </a:r>
          </a:p>
        </p:txBody>
      </p:sp>
      <p:sp>
        <p:nvSpPr>
          <p:cNvPr id="6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F1975BA2-7991-4038-ADAD-DA3E3E76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实验设计</a:t>
            </a:r>
          </a:p>
        </p:txBody>
      </p:sp>
      <p:sp>
        <p:nvSpPr>
          <p:cNvPr id="7" name="experiment">
            <a:extLst xmlns:a="http://schemas.openxmlformats.org/drawingml/2006/main">
              <a:ext uri="{FF2B5EF4-FFF2-40B4-BE49-F238E27FC236}">
                <a16:creationId xmlns:a16="http://schemas.microsoft.com/office/drawing/2014/main" id="{A443B68C-B1D7-4293-AE99-98538917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8">
                <a:solidFill>
                  <a:srgbClr val="111111"/>
                </a:solidFill>
              </a:defRPr>
            </a:pPr>
            <a:r>
              <a:rPr sz="1538">
                <a:solidFill>
                  <a:srgbClr val="111111"/>
                </a:solidFill>
              </a:rPr>
              <a:t>在 [[7,1,3]] 和 [[5,1,3]] 两个 code 上使用统一搜索空间，逐个训练候选 logical gate；再在 1PE 环境下测试 AFE，并用 10^-9 作为可行阈值。</a:t>
            </a:r>
          </a:p>
        </p:txBody>
      </p:sp>
      <p:sp>
        <p:nvSpPr>
          <p:cNvPr id="8" name="divider-610">
            <a:extLst xmlns:a="http://schemas.openxmlformats.org/drawingml/2006/main">
              <a:ext uri="{FF2B5EF4-FFF2-40B4-BE49-F238E27FC236}">
                <a16:creationId xmlns:a16="http://schemas.microsoft.com/office/drawing/2014/main" id="{CF0109FA-945D-4979-96CF-F4275E7F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552D6CDC-3800-4624-A389-C0BE3BAF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结果分析</a:t>
            </a:r>
          </a:p>
        </p:txBody>
      </p:sp>
      <p:sp>
        <p:nvSpPr>
          <p:cNvPr id="10" name="analysis">
            <a:extLst xmlns:a="http://schemas.openxmlformats.org/drawingml/2006/main">
              <a:ext uri="{FF2B5EF4-FFF2-40B4-BE49-F238E27FC236}">
                <a16:creationId xmlns:a16="http://schemas.microsoft.com/office/drawing/2014/main" id="{34F37AC9-BFA6-4468-A124-CBC1657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8" b="1">
                <a:solidFill>
                  <a:srgbClr val="111111"/>
                </a:solidFill>
              </a:defRPr>
            </a:pPr>
            <a:r>
              <a:rPr sz="1538" b="1">
                <a:solidFill>
                  <a:srgbClr val="111111"/>
                </a:solidFill>
              </a:rPr>
              <a:t>[[7,1,3]] 支持 {H, S, HS, SH, HS†}，而 [[5,1,3]] 只支持 {HS, SH, HS†}。结论：FT gateset 与 QEC code 强相关，通用应用线路不能直接跨 code 迁移。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ce2d1ff334d7a"/>
          <a:stretch xmlns:a="http://schemas.openxmlformats.org/drawingml/2006/main"/>
        </p:blipFill>
        <p:spPr>
          <a:xfrm xmlns:a="http://schemas.openxmlformats.org/drawingml/2006/main">
            <a:off x="3121723" y="3105150"/>
            <a:ext cx="5948554" cy="2343150"/>
          </a:xfrm>
          <a:prstGeom xmlns:a="http://schemas.openxmlformats.org/drawingml/2006/main" prst="rect">
            <a:avLst/>
          </a:prstGeom>
        </p:spPr>
      </p:pic>
      <p:sp>
        <p:nvSpPr>
          <p:cNvPr id="12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010EA62D-BF65-445A-AABF-F124350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图：不同候选 logical gates 在 [[7,1,3]] 与 [[5,1,3]] code 下的 1PE 推理 AFE。</a:t>
            </a:r>
          </a:p>
        </p:txBody>
      </p:sp>
    </p:spTree>
    <p:extLst>
      <p:ext uri="{BB962C8B-B14F-4D97-AF65-F5344CB8AC3E}">
        <p14:creationId xmlns:p14="http://schemas.microsoft.com/office/powerpoint/2010/main" val="935093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2026-08-08T10:01:54.9650000Z</dcterms:created>
  <dcterms:modified xsi:type="dcterms:W3CDTF">2026-08-08T10:01:54.9650000Z</dcterms:modified>
</coreProperties>
</file>